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esented by: Asutosh Parija"/>
          <p:cNvSpPr txBox="1"/>
          <p:nvPr>
            <p:ph type="body" idx="21"/>
          </p:nvPr>
        </p:nvSpPr>
        <p:spPr>
          <a:xfrm>
            <a:off x="1206498" y="11839048"/>
            <a:ext cx="7020084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Presented by: Asutosh Parija </a:t>
            </a:r>
          </a:p>
        </p:txBody>
      </p:sp>
      <p:sp>
        <p:nvSpPr>
          <p:cNvPr id="172" name="Feature Engineering using snowflake and Feature stor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Feature Engineering using snowflake and Feature store </a:t>
            </a:r>
          </a:p>
        </p:txBody>
      </p:sp>
      <p:sp>
        <p:nvSpPr>
          <p:cNvPr id="173" name="Assignment Submiss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Assignment Submission </a:t>
            </a:r>
          </a:p>
        </p:txBody>
      </p:sp>
      <p:sp>
        <p:nvSpPr>
          <p:cNvPr id="174" name="Date: 13th December 2025"/>
          <p:cNvSpPr txBox="1"/>
          <p:nvPr/>
        </p:nvSpPr>
        <p:spPr>
          <a:xfrm>
            <a:off x="14977493" y="11833968"/>
            <a:ext cx="586450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/>
            </a:lvl1pPr>
          </a:lstStyle>
          <a:p>
            <a:pPr/>
            <a:r>
              <a:t>Date: 13th December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roject Overview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177" name="Build a small ML pipeline completely inside snowflake.…"/>
          <p:cNvSpPr txBox="1"/>
          <p:nvPr>
            <p:ph type="subTitle" idx="1"/>
          </p:nvPr>
        </p:nvSpPr>
        <p:spPr>
          <a:xfrm>
            <a:off x="1206500" y="3097320"/>
            <a:ext cx="21971000" cy="7241408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Build a small ML pipeline completely inside snowflake.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Perform feature engineering.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Store engineering features in a feature store.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Run a simple ML prediction using SQL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What is Feature Engineering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What is Feature Engineering </a:t>
            </a:r>
          </a:p>
        </p:txBody>
      </p:sp>
      <p:sp>
        <p:nvSpPr>
          <p:cNvPr id="180" name="Process of transforming raw data into useful inputs for ML…"/>
          <p:cNvSpPr txBox="1"/>
          <p:nvPr>
            <p:ph type="subTitle" idx="1"/>
          </p:nvPr>
        </p:nvSpPr>
        <p:spPr>
          <a:xfrm>
            <a:off x="1206500" y="3097320"/>
            <a:ext cx="21971000" cy="7241408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Process of transforming raw data into useful inputs for ML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Helps models understand patterns better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Increases model accuracy and stability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Why Feature Engineering is Important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>
            <a:lvl1pPr defTabSz="2072588">
              <a:defRPr spc="-197" sz="9860"/>
            </a:lvl1pPr>
          </a:lstStyle>
          <a:p>
            <a:pPr/>
            <a:r>
              <a:t>Why Feature Engineering is Important</a:t>
            </a:r>
          </a:p>
        </p:txBody>
      </p:sp>
      <p:sp>
        <p:nvSpPr>
          <p:cNvPr id="183" name="Improves model performance…"/>
          <p:cNvSpPr txBox="1"/>
          <p:nvPr>
            <p:ph type="subTitle" idx="1"/>
          </p:nvPr>
        </p:nvSpPr>
        <p:spPr>
          <a:xfrm>
            <a:off x="1206500" y="3097320"/>
            <a:ext cx="21971000" cy="7241408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Improves model performance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Reduces noise.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Creates domain-based insights (age groups, salary buckets).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Makes training consistent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ypes of Feature Engineering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Types of Feature Engineering</a:t>
            </a:r>
          </a:p>
        </p:txBody>
      </p:sp>
      <p:sp>
        <p:nvSpPr>
          <p:cNvPr id="186" name="Normalization: Scale value…"/>
          <p:cNvSpPr txBox="1"/>
          <p:nvPr>
            <p:ph type="subTitle" idx="1"/>
          </p:nvPr>
        </p:nvSpPr>
        <p:spPr>
          <a:xfrm>
            <a:off x="1206500" y="3097320"/>
            <a:ext cx="21971000" cy="7241408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Normalization: Scale value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Categorical Encoding: Bucket Categorised 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Derived Features: Age group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Run a simple ML prediction using SQL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How snowflakes Stores Data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How snowflakes Stores Data</a:t>
            </a:r>
          </a:p>
        </p:txBody>
      </p:sp>
      <p:sp>
        <p:nvSpPr>
          <p:cNvPr id="189" name="Stores structured &amp; semi-structured data…"/>
          <p:cNvSpPr txBox="1"/>
          <p:nvPr>
            <p:ph type="subTitle" idx="1"/>
          </p:nvPr>
        </p:nvSpPr>
        <p:spPr>
          <a:xfrm>
            <a:off x="1206500" y="3097320"/>
            <a:ext cx="21971000" cy="7241408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Stores structured &amp; semi-structured data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Uses databases → schemas → tables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Automatically scales computation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/>
            </a:pPr>
            <a:r>
              <a:t>Data is stored securely in cloud storage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reate Our Warehouse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Create Our Warehouse </a:t>
            </a:r>
          </a:p>
        </p:txBody>
      </p:sp>
      <p:sp>
        <p:nvSpPr>
          <p:cNvPr id="192" name="Using some SQL command a warehouse is created as"/>
          <p:cNvSpPr txBox="1"/>
          <p:nvPr>
            <p:ph type="subTitle" sz="quarter" idx="1"/>
          </p:nvPr>
        </p:nvSpPr>
        <p:spPr>
          <a:xfrm>
            <a:off x="1206500" y="3097320"/>
            <a:ext cx="21971000" cy="1096441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spcBef>
                <a:spcPts val="4500"/>
              </a:spcBef>
              <a:defRPr b="0" sz="4800"/>
            </a:lvl1pPr>
          </a:lstStyle>
          <a:p>
            <a:pPr/>
            <a:r>
              <a:t>Using some SQL command a warehouse is created as</a:t>
            </a:r>
          </a:p>
        </p:txBody>
      </p:sp>
      <p:sp>
        <p:nvSpPr>
          <p:cNvPr id="193" name="create or replace warehouse COMPUTE_WH…"/>
          <p:cNvSpPr txBox="1"/>
          <p:nvPr/>
        </p:nvSpPr>
        <p:spPr>
          <a:xfrm>
            <a:off x="1550325" y="4734879"/>
            <a:ext cx="19528493" cy="547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/>
            </a:pPr>
            <a:r>
              <a:t>create or replace warehouse COMPUTE_WH</a:t>
            </a:r>
          </a:p>
          <a:p>
            <a:pPr>
              <a:defRPr sz="2000"/>
            </a:pPr>
            <a:r>
              <a:t>  warehouse_size = 'XSMALL'</a:t>
            </a:r>
          </a:p>
          <a:p>
            <a:pPr>
              <a:defRPr sz="2000"/>
            </a:pPr>
            <a:r>
              <a:t>  auto_suspend = 60</a:t>
            </a:r>
          </a:p>
          <a:p>
            <a:pPr>
              <a:defRPr sz="2000"/>
            </a:pPr>
            <a:r>
              <a:t>  auto_resume = true;</a:t>
            </a:r>
          </a:p>
          <a:p>
            <a:pPr>
              <a:defRPr sz="2000"/>
            </a:pPr>
            <a:r>
              <a:t>use warehouse COMPUTE_WH;</a:t>
            </a:r>
          </a:p>
          <a:p>
            <a:pPr>
              <a:defRPr sz="2000"/>
            </a:pPr>
            <a:r>
              <a:t>create or replace database FEATURE_DB;</a:t>
            </a:r>
          </a:p>
          <a:p>
            <a:pPr>
              <a:defRPr sz="2000"/>
            </a:pPr>
            <a:r>
              <a:t>use database FEATURE_DB;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reate Schema and Tables"/>
          <p:cNvSpPr txBox="1"/>
          <p:nvPr>
            <p:ph type="ctrTitle"/>
          </p:nvPr>
        </p:nvSpPr>
        <p:spPr>
          <a:xfrm>
            <a:off x="1206498" y="35639"/>
            <a:ext cx="21971004" cy="1997955"/>
          </a:xfrm>
          <a:prstGeom prst="rect">
            <a:avLst/>
          </a:prstGeom>
        </p:spPr>
        <p:txBody>
          <a:bodyPr/>
          <a:lstStyle/>
          <a:p>
            <a:pPr/>
            <a:r>
              <a:t>Create Schema and Tables</a:t>
            </a:r>
          </a:p>
        </p:txBody>
      </p:sp>
      <p:sp>
        <p:nvSpPr>
          <p:cNvPr id="196" name="Using some SQL command some schema and tables within them are created"/>
          <p:cNvSpPr txBox="1"/>
          <p:nvPr>
            <p:ph type="subTitle" sz="quarter" idx="1"/>
          </p:nvPr>
        </p:nvSpPr>
        <p:spPr>
          <a:xfrm>
            <a:off x="1206500" y="3097320"/>
            <a:ext cx="21971000" cy="1096441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spcBef>
                <a:spcPts val="4500"/>
              </a:spcBef>
              <a:defRPr b="0" sz="4800"/>
            </a:lvl1pPr>
          </a:lstStyle>
          <a:p>
            <a:pPr/>
            <a:r>
              <a:t>Using some SQL command some schema and tables within them are created </a:t>
            </a:r>
          </a:p>
        </p:txBody>
      </p:sp>
      <p:sp>
        <p:nvSpPr>
          <p:cNvPr id="197" name="CREATE TABLE raw.customers (…"/>
          <p:cNvSpPr txBox="1"/>
          <p:nvPr/>
        </p:nvSpPr>
        <p:spPr>
          <a:xfrm>
            <a:off x="1408792" y="4986862"/>
            <a:ext cx="9908057" cy="6325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/>
            </a:pPr>
            <a:r>
              <a:t>CREATE TABLE raw.customers (</a:t>
            </a:r>
          </a:p>
          <a:p>
            <a:pPr>
              <a:defRPr sz="2000"/>
            </a:pPr>
            <a:r>
              <a:t>    customerId INT,</a:t>
            </a:r>
          </a:p>
          <a:p>
            <a:pPr>
              <a:defRPr sz="2000"/>
            </a:pPr>
            <a:r>
              <a:t>    customerName STRING,</a:t>
            </a:r>
          </a:p>
          <a:p>
            <a:pPr>
              <a:defRPr sz="2000"/>
            </a:pPr>
            <a:r>
              <a:t>    age INT,</a:t>
            </a:r>
          </a:p>
          <a:p>
            <a:pPr>
              <a:defRPr sz="2000"/>
            </a:pPr>
            <a:r>
              <a:t>    salary FLOAT,</a:t>
            </a:r>
          </a:p>
          <a:p>
            <a:pPr>
              <a:defRPr sz="2000"/>
            </a:pPr>
            <a:r>
              <a:t>    country STRING</a:t>
            </a:r>
          </a:p>
          <a:p>
            <a:pPr>
              <a:defRPr sz="2000"/>
            </a:pPr>
            <a:r>
              <a:t>);</a:t>
            </a:r>
          </a:p>
        </p:txBody>
      </p:sp>
      <p:sp>
        <p:nvSpPr>
          <p:cNvPr id="198" name="INSERT INTO raw.customers (customerId, customerName, age, salary, country)…"/>
          <p:cNvSpPr txBox="1"/>
          <p:nvPr/>
        </p:nvSpPr>
        <p:spPr>
          <a:xfrm>
            <a:off x="12385273" y="5090331"/>
            <a:ext cx="9109203" cy="547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/>
            </a:pPr>
            <a:r>
              <a:t>INSERT INTO raw.customers (customerId, customerName, age, salary, country)</a:t>
            </a:r>
          </a:p>
          <a:p>
            <a:pPr>
              <a:defRPr sz="2000"/>
            </a:pPr>
            <a:r>
              <a:t>VALUES</a:t>
            </a:r>
          </a:p>
          <a:p>
            <a:pPr>
              <a:defRPr sz="2000"/>
            </a:pPr>
            <a:r>
              <a:t>    (1, 'John', 28, 52000, 'USA'),</a:t>
            </a:r>
          </a:p>
          <a:p>
            <a:pPr>
              <a:defRPr sz="2000"/>
            </a:pPr>
            <a:r>
              <a:t>    (2, 'Alice', 35, 67000, 'UK'),</a:t>
            </a:r>
          </a:p>
          <a:p>
            <a:pPr>
              <a:defRPr sz="2000"/>
            </a:pPr>
            <a:r>
              <a:t>    (3, 'Ravi', 22, 45000, ‘India');</a:t>
            </a:r>
          </a:p>
          <a:p>
            <a:pPr>
              <a:defRPr sz="2000"/>
            </a:pPr>
            <a:r>
              <a:t>SELECT * FROM customers;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Output: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Output:</a:t>
            </a:r>
          </a:p>
        </p:txBody>
      </p:sp>
      <p:pic>
        <p:nvPicPr>
          <p:cNvPr id="20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4706" y="2430077"/>
            <a:ext cx="22889389" cy="106501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reprocessing: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Preprocessing:</a:t>
            </a:r>
          </a:p>
        </p:txBody>
      </p:sp>
      <p:sp>
        <p:nvSpPr>
          <p:cNvPr id="204" name="We do some preprocessing and stored the new data in another storage as customerFeature"/>
          <p:cNvSpPr txBox="1"/>
          <p:nvPr>
            <p:ph type="body" sz="quarter" idx="4294967295"/>
          </p:nvPr>
        </p:nvSpPr>
        <p:spPr>
          <a:xfrm>
            <a:off x="1206500" y="2589729"/>
            <a:ext cx="23084936" cy="1714678"/>
          </a:xfrm>
          <a:prstGeom prst="rect">
            <a:avLst/>
          </a:prstGeom>
        </p:spPr>
        <p:txBody>
          <a:bodyPr/>
          <a:lstStyle/>
          <a:p>
            <a:pPr/>
            <a:r>
              <a:t>We do some preprocessing and stored the new data in another storage as customerFeature</a:t>
            </a:r>
          </a:p>
        </p:txBody>
      </p:sp>
      <p:pic>
        <p:nvPicPr>
          <p:cNvPr id="20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7861" y="4690317"/>
            <a:ext cx="7904138" cy="5371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27099" y="4638462"/>
            <a:ext cx="8394726" cy="53715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sult of Preprocessing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Result of Preprocessing </a:t>
            </a:r>
          </a:p>
        </p:txBody>
      </p:sp>
      <p:pic>
        <p:nvPicPr>
          <p:cNvPr id="20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9820" y="2564963"/>
            <a:ext cx="19490984" cy="104818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Feature Store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Feature Store</a:t>
            </a:r>
          </a:p>
        </p:txBody>
      </p:sp>
      <p:sp>
        <p:nvSpPr>
          <p:cNvPr id="212" name="Central place to store clean and usable data for further ML use.…"/>
          <p:cNvSpPr txBox="1"/>
          <p:nvPr>
            <p:ph type="body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Central place to store clean and usable data for further ML use.</a:t>
            </a:r>
          </a:p>
          <a:p>
            <a:pPr/>
            <a:r>
              <a:t>Runs pipeline to convert raw data into meaningful features .</a:t>
            </a:r>
          </a:p>
          <a:p>
            <a:pPr/>
            <a:r>
              <a:t>Delivers features for model training.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Feature Engineering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Feature Engineering</a:t>
            </a:r>
          </a:p>
        </p:txBody>
      </p:sp>
      <p:sp>
        <p:nvSpPr>
          <p:cNvPr id="215" name="Using SQL command to create the feature data with the help of our previously…"/>
          <p:cNvSpPr txBox="1"/>
          <p:nvPr/>
        </p:nvSpPr>
        <p:spPr>
          <a:xfrm>
            <a:off x="912594" y="2808236"/>
            <a:ext cx="21343012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Using SQL command to create the feature data with the help of our previously</a:t>
            </a:r>
          </a:p>
          <a:p>
            <a:pPr/>
            <a:r>
              <a:t>processed data </a:t>
            </a:r>
          </a:p>
        </p:txBody>
      </p:sp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5440" y="5262021"/>
            <a:ext cx="7005582" cy="7642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56750" y="5372100"/>
            <a:ext cx="12110953" cy="68288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nd the outputs are as follows"/>
          <p:cNvSpPr txBox="1"/>
          <p:nvPr/>
        </p:nvSpPr>
        <p:spPr>
          <a:xfrm>
            <a:off x="1220653" y="2946658"/>
            <a:ext cx="855969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And the outputs are as follows </a:t>
            </a:r>
          </a:p>
        </p:txBody>
      </p:sp>
      <p:sp>
        <p:nvSpPr>
          <p:cNvPr id="220" name="Feature Engineering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Feature Engineering </a:t>
            </a:r>
          </a:p>
        </p:txBody>
      </p:sp>
      <p:pic>
        <p:nvPicPr>
          <p:cNvPr id="22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95198" y="3936304"/>
            <a:ext cx="18193604" cy="96854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onclusion"/>
          <p:cNvSpPr txBox="1"/>
          <p:nvPr>
            <p:ph type="title" idx="4294967295"/>
          </p:nvPr>
        </p:nvSpPr>
        <p:spPr>
          <a:xfrm>
            <a:off x="1206500" y="952500"/>
            <a:ext cx="10477500" cy="1435100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224" name="Snowflake handle Data storage, Feature engineering and Model prediction in one place.…"/>
          <p:cNvSpPr txBox="1"/>
          <p:nvPr>
            <p:ph type="body" idx="4294967295"/>
          </p:nvPr>
        </p:nvSpPr>
        <p:spPr>
          <a:xfrm>
            <a:off x="1135502" y="4272201"/>
            <a:ext cx="22112996" cy="8256012"/>
          </a:xfrm>
          <a:prstGeom prst="rect">
            <a:avLst/>
          </a:prstGeom>
        </p:spPr>
        <p:txBody>
          <a:bodyPr/>
          <a:lstStyle/>
          <a:p>
            <a:pPr/>
            <a:r>
              <a:t>Snowflake handle Data storage, Feature engineering and Model prediction in one place.</a:t>
            </a:r>
          </a:p>
          <a:p>
            <a:pPr/>
            <a:r>
              <a:t>Feature engineering ensure the clean and usable data.</a:t>
            </a:r>
          </a:p>
          <a:p>
            <a:pPr/>
            <a:r>
              <a:t>Regression model was implemented fully using SQL.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hank You"/>
          <p:cNvSpPr txBox="1"/>
          <p:nvPr>
            <p:ph type="title" idx="4294967295"/>
          </p:nvPr>
        </p:nvSpPr>
        <p:spPr>
          <a:xfrm>
            <a:off x="5214914" y="1246784"/>
            <a:ext cx="13954172" cy="9325300"/>
          </a:xfrm>
          <a:prstGeom prst="rect">
            <a:avLst/>
          </a:prstGeom>
        </p:spPr>
        <p:txBody>
          <a:bodyPr/>
          <a:lstStyle>
            <a:lvl1pPr algn="ctr">
              <a:defRPr b="0" spc="-250" sz="25000">
                <a:latin typeface="Apple Chancery"/>
                <a:ea typeface="Apple Chancery"/>
                <a:cs typeface="Apple Chancery"/>
                <a:sym typeface="Apple Chancery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